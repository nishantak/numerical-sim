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0" r:id="rId3"/>
    <p:sldId id="263" r:id="rId4"/>
    <p:sldId id="264" r:id="rId5"/>
    <p:sldId id="265" r:id="rId6"/>
    <p:sldId id="266" r:id="rId7"/>
    <p:sldId id="271" r:id="rId8"/>
    <p:sldId id="267" r:id="rId9"/>
    <p:sldId id="270" r:id="rId10"/>
    <p:sldId id="268" r:id="rId11"/>
    <p:sldId id="269" r:id="rId12"/>
    <p:sldId id="272" r:id="rId13"/>
    <p:sldId id="273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72" autoAdjust="0"/>
    <p:restoredTop sz="94660"/>
  </p:normalViewPr>
  <p:slideViewPr>
    <p:cSldViewPr snapToGrid="0">
      <p:cViewPr varScale="1">
        <p:scale>
          <a:sx n="89" d="100"/>
          <a:sy n="89" d="100"/>
        </p:scale>
        <p:origin x="21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228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DBCD3C-2EC8-4409-B065-57D2B4BF5EEA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CBC821-F728-474F-A102-8F633E9BE2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8455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9AF18-A8F1-41EE-87C0-594D1A7FF806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19295-7784-47C9-AE4A-9409532ECD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833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0" y="6257925"/>
            <a:ext cx="12192000" cy="6000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N" sz="2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ICCCNP</a:t>
            </a:r>
            <a:r>
              <a:rPr lang="en-IN" sz="2800" b="1" baseline="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- 2025</a:t>
            </a:r>
            <a:endParaRPr lang="en-IN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40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E9D2C8E-DA6A-6E8D-83A8-0CEC52A878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/>
          <a:stretch/>
        </p:blipFill>
        <p:spPr>
          <a:xfrm>
            <a:off x="3370972" y="452979"/>
            <a:ext cx="5359790" cy="5359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706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1" y="6219824"/>
            <a:ext cx="12191999" cy="63817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N" sz="2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ICCCNP-2025</a:t>
            </a:r>
          </a:p>
        </p:txBody>
      </p:sp>
    </p:spTree>
    <p:extLst>
      <p:ext uri="{BB962C8B-B14F-4D97-AF65-F5344CB8AC3E}">
        <p14:creationId xmlns:p14="http://schemas.microsoft.com/office/powerpoint/2010/main" val="1746502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6181726"/>
            <a:ext cx="12192000" cy="681037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ctr"/>
          <a:lstStyle>
            <a:lvl1pPr marL="0" indent="0">
              <a:buNone/>
              <a:defRPr/>
            </a:lvl1pPr>
          </a:lstStyle>
          <a:p>
            <a:r>
              <a:rPr lang="en-IN" dirty="0"/>
              <a:t>ICCCNP - 2025</a:t>
            </a:r>
          </a:p>
        </p:txBody>
      </p:sp>
    </p:spTree>
    <p:extLst>
      <p:ext uri="{BB962C8B-B14F-4D97-AF65-F5344CB8AC3E}">
        <p14:creationId xmlns:p14="http://schemas.microsoft.com/office/powerpoint/2010/main" val="3983230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FDA32-86B6-4082-B85B-12AAF3FD5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570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FDA32-86B6-4082-B85B-12AAF3FD5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974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FDA32-86B6-4082-B85B-12AAF3FD5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80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FDA32-86B6-4082-B85B-12AAF3FD5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366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FDA32-86B6-4082-B85B-12AAF3FD5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66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FDA32-86B6-4082-B85B-12AAF3FD5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91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2FDA32-86B6-4082-B85B-12AAF3FD5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041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FDA32-86B6-4082-B85B-12AAF3FD5E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726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47305B3-1D9A-3F43-BCE0-4B88D41DCAD9}"/>
              </a:ext>
            </a:extLst>
          </p:cNvPr>
          <p:cNvSpPr txBox="1">
            <a:spLocks/>
          </p:cNvSpPr>
          <p:nvPr/>
        </p:nvSpPr>
        <p:spPr>
          <a:xfrm>
            <a:off x="190647" y="4168974"/>
            <a:ext cx="7886700" cy="9737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i="0" dirty="0">
                <a:latin typeface="Cambria" panose="02040503050406030204" pitchFamily="18" charset="0"/>
                <a:ea typeface="Cambria" panose="02040503050406030204" pitchFamily="18" charset="0"/>
              </a:rPr>
              <a:t>Authors:      Nishantak Panigrahi, Mayank </a:t>
            </a:r>
            <a:r>
              <a:rPr lang="en-US" sz="2000" i="0" dirty="0" err="1">
                <a:latin typeface="Cambria" panose="02040503050406030204" pitchFamily="18" charset="0"/>
                <a:ea typeface="Cambria" panose="02040503050406030204" pitchFamily="18" charset="0"/>
              </a:rPr>
              <a:t>Patwal</a:t>
            </a:r>
            <a:br>
              <a:rPr lang="en-US" sz="2000" i="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2000" i="0" dirty="0">
                <a:latin typeface="Cambria" panose="02040503050406030204" pitchFamily="18" charset="0"/>
                <a:ea typeface="Cambria" panose="02040503050406030204" pitchFamily="18" charset="0"/>
              </a:rPr>
              <a:t>Affiliation: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Vellore Institute of Technology (VIT), Vellore</a:t>
            </a:r>
            <a:b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9C18854-3151-5246-AFFC-59784F3F551C}"/>
              </a:ext>
            </a:extLst>
          </p:cNvPr>
          <p:cNvSpPr txBox="1">
            <a:spLocks/>
          </p:cNvSpPr>
          <p:nvPr/>
        </p:nvSpPr>
        <p:spPr>
          <a:xfrm>
            <a:off x="190646" y="2259890"/>
            <a:ext cx="11751785" cy="9008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400" b="1" dirty="0">
                <a:latin typeface="Cambria" panose="02040503050406030204" pitchFamily="18" charset="0"/>
                <a:ea typeface="Cambria" panose="02040503050406030204" pitchFamily="18" charset="0"/>
              </a:rPr>
              <a:t>A Neural Network for the Identical Kuramoto Equation: </a:t>
            </a:r>
            <a:r>
              <a:rPr lang="en-GB" sz="2400" i="1" dirty="0">
                <a:latin typeface="Cambria" panose="02040503050406030204" pitchFamily="18" charset="0"/>
                <a:ea typeface="Cambria" panose="02040503050406030204" pitchFamily="18" charset="0"/>
              </a:rPr>
              <a:t>Architectural Considerations and Performance Evaluation</a:t>
            </a:r>
            <a:endParaRPr lang="en-US" sz="24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9DB6D54-0141-EA41-82AD-F17FF5A1E893}"/>
              </a:ext>
            </a:extLst>
          </p:cNvPr>
          <p:cNvSpPr txBox="1">
            <a:spLocks/>
          </p:cNvSpPr>
          <p:nvPr/>
        </p:nvSpPr>
        <p:spPr>
          <a:xfrm>
            <a:off x="257512" y="5349393"/>
            <a:ext cx="2487612" cy="3397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buFontTx/>
              <a:buNone/>
              <a:defRPr sz="16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342900" indent="0" algn="l" defTabSz="914400" rtl="0" eaLnBrk="1" latinLnBrk="0" hangingPunct="1">
              <a:buFontTx/>
              <a:buNone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685800" indent="0" algn="l" defTabSz="914400" rtl="0" eaLnBrk="1" latinLnBrk="0" hangingPunct="1">
              <a:buFontTx/>
              <a:buNone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028700" indent="0" algn="l" defTabSz="914400" rtl="0" eaLnBrk="1" latinLnBrk="0" hangingPunct="1">
              <a:buFontTx/>
              <a:buNone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371600" indent="0" algn="l" defTabSz="914400" rtl="0" eaLnBrk="1" latinLnBrk="0" hangingPunct="1">
              <a:buFontTx/>
              <a:buNone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Paper ID</a:t>
            </a:r>
            <a:r>
              <a:rPr lang="en-US" sz="2000" dirty="0"/>
              <a:t>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284</a:t>
            </a:r>
            <a:endParaRPr lang="en-US" sz="2000" b="1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9DB6D54-0141-EA41-82AD-F17FF5A1E893}"/>
              </a:ext>
            </a:extLst>
          </p:cNvPr>
          <p:cNvSpPr txBox="1">
            <a:spLocks/>
          </p:cNvSpPr>
          <p:nvPr/>
        </p:nvSpPr>
        <p:spPr>
          <a:xfrm>
            <a:off x="8866188" y="5349392"/>
            <a:ext cx="2487612" cy="3397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indent="0" algn="ctr" defTabSz="914400" rtl="0" eaLnBrk="1" latinLnBrk="0" hangingPunct="1">
              <a:buFontTx/>
              <a:buNone/>
              <a:defRPr sz="1600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342900" indent="0" algn="l" defTabSz="914400" rtl="0" eaLnBrk="1" latinLnBrk="0" hangingPunct="1">
              <a:buFontTx/>
              <a:buNone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685800" indent="0" algn="l" defTabSz="914400" rtl="0" eaLnBrk="1" latinLnBrk="0" hangingPunct="1">
              <a:buFontTx/>
              <a:buNone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028700" indent="0" algn="l" defTabSz="914400" rtl="0" eaLnBrk="1" latinLnBrk="0" hangingPunct="1">
              <a:buFontTx/>
              <a:buNone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371600" indent="0" algn="l" defTabSz="914400" rtl="0" eaLnBrk="1" latinLnBrk="0" hangingPunct="1">
              <a:buFontTx/>
              <a:buNone/>
              <a:defRPr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Date: 18 Sep 2025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2018543"/>
          </a:xfrm>
          <a:prstGeom prst="rect">
            <a:avLst/>
          </a:prstGeom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C2FDA32-86B6-4082-B85B-12AAF3FD5EBF}" type="slidenum">
              <a:rPr lang="en-IN" smtClean="0"/>
              <a:t>1</a:t>
            </a:fld>
            <a:endParaRPr lang="en-IN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47305B3-1D9A-3F43-BCE0-4B88D41DCAD9}"/>
              </a:ext>
            </a:extLst>
          </p:cNvPr>
          <p:cNvSpPr txBox="1">
            <a:spLocks/>
          </p:cNvSpPr>
          <p:nvPr/>
        </p:nvSpPr>
        <p:spPr>
          <a:xfrm>
            <a:off x="190647" y="3432322"/>
            <a:ext cx="7886700" cy="4393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- </a:t>
            </a:r>
            <a:r>
              <a:rPr lang="en-US" sz="2000" i="0" dirty="0">
                <a:latin typeface="Cambria" panose="02040503050406030204" pitchFamily="18" charset="0"/>
                <a:ea typeface="Cambria" panose="02040503050406030204" pitchFamily="18" charset="0"/>
              </a:rPr>
              <a:t>Presenting author: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Nishantak Panigrahi</a:t>
            </a:r>
          </a:p>
        </p:txBody>
      </p:sp>
    </p:spTree>
    <p:extLst>
      <p:ext uri="{BB962C8B-B14F-4D97-AF65-F5344CB8AC3E}">
        <p14:creationId xmlns:p14="http://schemas.microsoft.com/office/powerpoint/2010/main" val="882401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EM vs. FVM | COMSOL Blog">
            <a:extLst>
              <a:ext uri="{FF2B5EF4-FFF2-40B4-BE49-F238E27FC236}">
                <a16:creationId xmlns:a16="http://schemas.microsoft.com/office/drawing/2014/main" id="{AD1B06C5-17F4-40AD-A77B-7405D7F9A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261" y="764938"/>
            <a:ext cx="5589770" cy="3594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FC2FDA32-86B6-4082-B85B-12AAF3FD5EBF}" type="slidenum">
              <a:rPr lang="en-IN" smtClean="0"/>
              <a:t>2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7D827-C68F-4CD0-BA02-77C34045F2EC}"/>
              </a:ext>
            </a:extLst>
          </p:cNvPr>
          <p:cNvSpPr txBox="1"/>
          <p:nvPr/>
        </p:nvSpPr>
        <p:spPr>
          <a:xfrm>
            <a:off x="4311181" y="2572200"/>
            <a:ext cx="35696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Differential Equations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(PDEs)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A66B8E-99E5-48DD-ABFF-CF85E2BFAA02}"/>
              </a:ext>
            </a:extLst>
          </p:cNvPr>
          <p:cNvSpPr txBox="1"/>
          <p:nvPr/>
        </p:nvSpPr>
        <p:spPr>
          <a:xfrm>
            <a:off x="7880819" y="374352"/>
            <a:ext cx="35389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Arial Black" panose="020B0A04020102020204" pitchFamily="34" charset="0"/>
                <a:cs typeface="Arial" panose="020B0604020202020204" pitchFamily="34" charset="0"/>
              </a:rPr>
              <a:t>Numerical Solvers?</a:t>
            </a:r>
          </a:p>
          <a:p>
            <a:pPr marL="285750" indent="-285750">
              <a:buFontTx/>
              <a:buChar char="-"/>
            </a:pPr>
            <a:r>
              <a:rPr lang="en-IN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Accurate</a:t>
            </a:r>
          </a:p>
          <a:p>
            <a:pPr marL="285750" indent="-285750">
              <a:buFontTx/>
              <a:buChar char="-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But, </a:t>
            </a:r>
            <a:r>
              <a:rPr lang="en-I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SLOW!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CD7E61-3B4F-483C-A87B-49458DC216B5}"/>
              </a:ext>
            </a:extLst>
          </p:cNvPr>
          <p:cNvSpPr txBox="1"/>
          <p:nvPr/>
        </p:nvSpPr>
        <p:spPr>
          <a:xfrm>
            <a:off x="245476" y="3989183"/>
            <a:ext cx="277899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buFontTx/>
              <a:buChar char="-"/>
            </a:pPr>
            <a:r>
              <a:rPr lang="en-I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But?</a:t>
            </a:r>
          </a:p>
          <a:p>
            <a:pPr algn="r"/>
            <a:endParaRPr lang="en-IN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r">
              <a:buFontTx/>
              <a:buChar char="-"/>
            </a:pPr>
            <a:r>
              <a:rPr lang="en-IN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</a:t>
            </a:r>
          </a:p>
          <a:p>
            <a:pPr marL="285750" indent="-285750" algn="r">
              <a:buFontTx/>
              <a:buChar char="-"/>
            </a:pPr>
            <a:r>
              <a:rPr lang="en-IN" sz="2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Mesh free</a:t>
            </a:r>
          </a:p>
          <a:p>
            <a:pPr algn="r"/>
            <a:endParaRPr lang="en-IN" sz="1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IN" sz="2000" b="1" dirty="0">
                <a:latin typeface="Arial Black" panose="020B0A04020102020204" pitchFamily="34" charset="0"/>
                <a:cs typeface="Arial" panose="020B0604020202020204" pitchFamily="34" charset="0"/>
              </a:rPr>
              <a:t>Neural Networks?</a:t>
            </a:r>
          </a:p>
          <a:p>
            <a:pPr marL="285750" indent="-285750" algn="r">
              <a:buFontTx/>
              <a:buChar char="-"/>
            </a:pPr>
            <a:endParaRPr lang="en-IN" sz="2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F2AC554D-8AE0-42D4-8D83-F3030742D67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999693" y="670771"/>
            <a:ext cx="1977433" cy="1784819"/>
          </a:xfrm>
          <a:prstGeom prst="bentConnector2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615FC8DE-E7D0-40CC-BC8B-557A0EB1D8E2}"/>
              </a:ext>
            </a:extLst>
          </p:cNvPr>
          <p:cNvCxnSpPr>
            <a:cxnSpLocks/>
            <a:stCxn id="3" idx="2"/>
          </p:cNvCxnSpPr>
          <p:nvPr/>
        </p:nvCxnSpPr>
        <p:spPr>
          <a:xfrm rot="5400000">
            <a:off x="3620268" y="3053626"/>
            <a:ext cx="1879940" cy="3071525"/>
          </a:xfrm>
          <a:prstGeom prst="bentConnector2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Neural network (machine learning) - Wikipedia">
            <a:extLst>
              <a:ext uri="{FF2B5EF4-FFF2-40B4-BE49-F238E27FC236}">
                <a16:creationId xmlns:a16="http://schemas.microsoft.com/office/drawing/2014/main" id="{BA6C42F0-76D1-4D1C-93DA-20057CD19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4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72" y="734108"/>
            <a:ext cx="4067409" cy="489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A3017C-98A2-4CFD-8C36-F6430BE6E4D0}"/>
              </a:ext>
            </a:extLst>
          </p:cNvPr>
          <p:cNvSpPr txBox="1"/>
          <p:nvPr/>
        </p:nvSpPr>
        <p:spPr>
          <a:xfrm>
            <a:off x="245475" y="177970"/>
            <a:ext cx="2872077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Big Question </a:t>
            </a:r>
            <a:r>
              <a:rPr lang="en-IN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spc="300" dirty="0">
                <a:latin typeface="Bahnschrift" panose="020B0502040204020203" pitchFamily="34" charset="0"/>
                <a:cs typeface="Times New Roman" panose="02020603050405020304" pitchFamily="18" charset="0"/>
              </a:rPr>
              <a:t>Activation?</a:t>
            </a:r>
          </a:p>
          <a:p>
            <a:r>
              <a:rPr lang="en-IN" sz="2400" b="1" spc="300" dirty="0">
                <a:latin typeface="Bahnschrift" panose="020B0502040204020203" pitchFamily="34" charset="0"/>
                <a:cs typeface="Times New Roman" panose="02020603050405020304" pitchFamily="18" charset="0"/>
              </a:rPr>
              <a:t>Depth?</a:t>
            </a:r>
          </a:p>
          <a:p>
            <a:r>
              <a:rPr lang="en-IN" sz="2400" b="1" spc="300" dirty="0">
                <a:latin typeface="Bahnschrift" panose="020B0502040204020203" pitchFamily="34" charset="0"/>
                <a:cs typeface="Times New Roman" panose="02020603050405020304" pitchFamily="18" charset="0"/>
              </a:rPr>
              <a:t>Width?</a:t>
            </a:r>
          </a:p>
          <a:p>
            <a:r>
              <a:rPr lang="en-IN" sz="2400" b="1" spc="300" dirty="0">
                <a:latin typeface="Bahnschrift" panose="020B0502040204020203" pitchFamily="34" charset="0"/>
                <a:cs typeface="Times New Roman" panose="02020603050405020304" pitchFamily="18" charset="0"/>
              </a:rPr>
              <a:t>Loss?</a:t>
            </a:r>
          </a:p>
          <a:p>
            <a:r>
              <a:rPr lang="en-IN" sz="2400" b="1" spc="300" dirty="0">
                <a:latin typeface="Bahnschrift" panose="020B0502040204020203" pitchFamily="34" charset="0"/>
                <a:cs typeface="Times New Roman" panose="02020603050405020304" pitchFamily="18" charset="0"/>
              </a:rPr>
              <a:t>Performance?</a:t>
            </a:r>
          </a:p>
        </p:txBody>
      </p:sp>
    </p:spTree>
    <p:extLst>
      <p:ext uri="{BB962C8B-B14F-4D97-AF65-F5344CB8AC3E}">
        <p14:creationId xmlns:p14="http://schemas.microsoft.com/office/powerpoint/2010/main" val="1729331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FC2FDA32-86B6-4082-B85B-12AAF3FD5EBF}" type="slidenum">
              <a:rPr lang="en-IN" smtClean="0"/>
              <a:t>3</a:t>
            </a:fld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AA41DD-1601-4D3B-B6EF-FF9DCE04151C}"/>
              </a:ext>
            </a:extLst>
          </p:cNvPr>
          <p:cNvSpPr txBox="1"/>
          <p:nvPr/>
        </p:nvSpPr>
        <p:spPr>
          <a:xfrm>
            <a:off x="122738" y="282299"/>
            <a:ext cx="44615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Kuramoto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Nonlocal Conservation Laws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8706C25-7232-47BD-AD88-A811CFDD51BD}"/>
              </a:ext>
            </a:extLst>
          </p:cNvPr>
          <p:cNvGrpSpPr/>
          <p:nvPr/>
        </p:nvGrpSpPr>
        <p:grpSpPr>
          <a:xfrm>
            <a:off x="6614615" y="405037"/>
            <a:ext cx="5114484" cy="1663103"/>
            <a:chOff x="5627549" y="435721"/>
            <a:chExt cx="6273383" cy="189910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E159DAA-9767-461F-9F9F-930BDDD5D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27549" y="435721"/>
              <a:ext cx="6273383" cy="1899102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AA03709-1CB3-490E-9F87-0F51DA0A5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78229" y="1978391"/>
              <a:ext cx="476316" cy="218624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200AD9-E6E3-417E-A78D-AB30EC373D5B}"/>
              </a:ext>
            </a:extLst>
          </p:cNvPr>
          <p:cNvGrpSpPr/>
          <p:nvPr/>
        </p:nvGrpSpPr>
        <p:grpSpPr>
          <a:xfrm>
            <a:off x="122738" y="1494978"/>
            <a:ext cx="5454650" cy="1505035"/>
            <a:chOff x="6322811" y="2202171"/>
            <a:chExt cx="5454650" cy="150503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FA410BA-C3CC-4428-A8BB-2A8C3977B5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7225" t="90960" r="19979" b="-427"/>
            <a:stretch/>
          </p:blipFill>
          <p:spPr>
            <a:xfrm>
              <a:off x="7093228" y="3079334"/>
              <a:ext cx="3913816" cy="62787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D09624C-D4A0-478A-A936-2BBE25F37D73}"/>
                </a:ext>
              </a:extLst>
            </p:cNvPr>
            <p:cNvSpPr txBox="1"/>
            <p:nvPr/>
          </p:nvSpPr>
          <p:spPr>
            <a:xfrm>
              <a:off x="6322811" y="2202171"/>
              <a:ext cx="5454650" cy="877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 a nonlocal conservation law, the change in </a:t>
              </a:r>
              <a:r>
                <a:rPr lang="en-IN" sz="17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lang="en-IN" sz="1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is also attributed to the sum of pairwise interactions, </a:t>
              </a:r>
              <a:r>
                <a:rPr lang="en-IN" sz="17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IN" sz="1700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nl</a:t>
              </a:r>
              <a:r>
                <a:rPr lang="en-IN" sz="1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from </a:t>
              </a:r>
              <a:r>
                <a:rPr lang="en-IN" sz="17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particles</a:t>
              </a:r>
              <a:r>
                <a:rPr lang="en-IN" sz="17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at a distance.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F697FCB2-7BD8-46BE-A8E9-DC6F6A0087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300" y="4606727"/>
            <a:ext cx="5854700" cy="8824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6A9C13D-F862-49F5-9107-F8622DA8D919}"/>
                  </a:ext>
                </a:extLst>
              </p:cNvPr>
              <p:cNvSpPr txBox="1"/>
              <p:nvPr/>
            </p:nvSpPr>
            <p:spPr>
              <a:xfrm>
                <a:off x="124700" y="3396323"/>
                <a:ext cx="622278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Kuramoto model describes how </a:t>
                </a:r>
                <a:r>
                  <a:rPr lang="en-I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coupled oscillators, each oscillating with their phase,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transition from an incoherent to a macroscopic coherent state by </a:t>
                </a:r>
                <a:r>
                  <a:rPr lang="en-I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feeling the rhythm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Thus, it reads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6A9C13D-F862-49F5-9107-F8622DA8D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00" y="3396323"/>
                <a:ext cx="6222786" cy="923330"/>
              </a:xfrm>
              <a:prstGeom prst="rect">
                <a:avLst/>
              </a:prstGeom>
              <a:blipFill>
                <a:blip r:embed="rId6"/>
                <a:stretch>
                  <a:fillRect l="-784" t="-3289" r="-294" b="-92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A9F599E0-6C23-4BAD-AA26-4892ADE76F0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8" t="7871" r="8320" b="24647"/>
          <a:stretch/>
        </p:blipFill>
        <p:spPr>
          <a:xfrm>
            <a:off x="6448076" y="2700379"/>
            <a:ext cx="5447561" cy="2480745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6AD16DC5-E08C-4338-8B07-BD7466CBE4F7}"/>
              </a:ext>
            </a:extLst>
          </p:cNvPr>
          <p:cNvSpPr/>
          <p:nvPr/>
        </p:nvSpPr>
        <p:spPr>
          <a:xfrm>
            <a:off x="241300" y="4606727"/>
            <a:ext cx="1342023" cy="73554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A6EA75-326A-425F-AF5D-2F49A9489613}"/>
              </a:ext>
            </a:extLst>
          </p:cNvPr>
          <p:cNvSpPr txBox="1"/>
          <p:nvPr/>
        </p:nvSpPr>
        <p:spPr>
          <a:xfrm>
            <a:off x="6448076" y="5178810"/>
            <a:ext cx="31013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000" dirty="0"/>
              <a:t>Ref: https://www.youtube.com/watch?v=Ow7cFh7bAaE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FB6FD2-5DA5-455B-818C-A674F8A827C0}"/>
              </a:ext>
            </a:extLst>
          </p:cNvPr>
          <p:cNvSpPr txBox="1"/>
          <p:nvPr/>
        </p:nvSpPr>
        <p:spPr>
          <a:xfrm>
            <a:off x="0" y="5342267"/>
            <a:ext cx="1755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 phase oscillator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6871BE4-ACD9-47B7-B5E4-D993DEF8F9F5}"/>
              </a:ext>
            </a:extLst>
          </p:cNvPr>
          <p:cNvSpPr/>
          <p:nvPr/>
        </p:nvSpPr>
        <p:spPr>
          <a:xfrm>
            <a:off x="1926991" y="4544468"/>
            <a:ext cx="2043592" cy="923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CD7BE2-D360-4DA2-A3E5-3AD279FEA61F}"/>
              </a:ext>
            </a:extLst>
          </p:cNvPr>
          <p:cNvSpPr txBox="1"/>
          <p:nvPr/>
        </p:nvSpPr>
        <p:spPr>
          <a:xfrm>
            <a:off x="1764362" y="5530057"/>
            <a:ext cx="2356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Nonlocal Coupling</a:t>
            </a:r>
          </a:p>
          <a:p>
            <a:pPr algn="ctr"/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(flux)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BD1D7D-38E5-4708-9B52-E47DC0E71CE0}"/>
              </a:ext>
            </a:extLst>
          </p:cNvPr>
          <p:cNvSpPr txBox="1"/>
          <p:nvPr/>
        </p:nvSpPr>
        <p:spPr>
          <a:xfrm>
            <a:off x="4173050" y="5323359"/>
            <a:ext cx="1596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Nodes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E9AD5E7-41AD-4AA7-B725-104E8309F74D}"/>
              </a:ext>
            </a:extLst>
          </p:cNvPr>
          <p:cNvCxnSpPr>
            <a:cxnSpLocks/>
          </p:cNvCxnSpPr>
          <p:nvPr/>
        </p:nvCxnSpPr>
        <p:spPr>
          <a:xfrm flipH="1" flipV="1">
            <a:off x="3322083" y="5096048"/>
            <a:ext cx="916705" cy="37175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3379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2"/>
          <p:cNvSpPr>
            <a:spLocks noGrp="1"/>
          </p:cNvSpPr>
          <p:nvPr>
            <p:ph type="sldNum" sz="quarter" idx="4294967295"/>
          </p:nvPr>
        </p:nvSpPr>
        <p:spPr>
          <a:xfrm>
            <a:off x="7227238" y="7798525"/>
            <a:ext cx="2743200" cy="365125"/>
          </a:xfrm>
        </p:spPr>
        <p:txBody>
          <a:bodyPr/>
          <a:lstStyle/>
          <a:p>
            <a:fld id="{FC2FDA32-86B6-4082-B85B-12AAF3FD5EBF}" type="slidenum">
              <a:rPr lang="en-IN" smtClean="0"/>
              <a:t>4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AA41DD-1601-4D3B-B6EF-FF9DCE04151C}"/>
              </a:ext>
            </a:extLst>
          </p:cNvPr>
          <p:cNvSpPr txBox="1"/>
          <p:nvPr/>
        </p:nvSpPr>
        <p:spPr>
          <a:xfrm>
            <a:off x="122738" y="282299"/>
            <a:ext cx="4461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DBC3C07-BBA2-436A-A390-7475A59F8B35}"/>
              </a:ext>
            </a:extLst>
          </p:cNvPr>
          <p:cNvGrpSpPr/>
          <p:nvPr/>
        </p:nvGrpSpPr>
        <p:grpSpPr>
          <a:xfrm>
            <a:off x="1163456" y="1224132"/>
            <a:ext cx="9865088" cy="3976905"/>
            <a:chOff x="1494338" y="1104458"/>
            <a:chExt cx="9865088" cy="397690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E3DCD7E-D18D-489A-9A1D-4030168C8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9117" y="1578700"/>
              <a:ext cx="6965397" cy="288286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A868AAE-BFC0-4400-B341-ECAC26E2DF48}"/>
                </a:ext>
              </a:extLst>
            </p:cNvPr>
            <p:cNvSpPr/>
            <p:nvPr/>
          </p:nvSpPr>
          <p:spPr>
            <a:xfrm>
              <a:off x="3369166" y="2104986"/>
              <a:ext cx="4743834" cy="2467039"/>
            </a:xfrm>
            <a:prstGeom prst="rect">
              <a:avLst/>
            </a:prstGeom>
            <a:noFill/>
            <a:ln w="158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AA60CF7-73BA-4EBA-9C17-AD7B6DB66747}"/>
                </a:ext>
              </a:extLst>
            </p:cNvPr>
            <p:cNvSpPr txBox="1"/>
            <p:nvPr/>
          </p:nvSpPr>
          <p:spPr>
            <a:xfrm>
              <a:off x="6100092" y="4553639"/>
              <a:ext cx="2853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i="1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Hidden Layers (Depth)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D03CA26-EA66-4A5E-9F93-B3541577E1EC}"/>
                </a:ext>
              </a:extLst>
            </p:cNvPr>
            <p:cNvSpPr/>
            <p:nvPr/>
          </p:nvSpPr>
          <p:spPr>
            <a:xfrm>
              <a:off x="4424715" y="2289069"/>
              <a:ext cx="558459" cy="2405670"/>
            </a:xfrm>
            <a:prstGeom prst="rect">
              <a:avLst/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2108A5D-6A2A-433F-ACD8-5060173251CA}"/>
                </a:ext>
              </a:extLst>
            </p:cNvPr>
            <p:cNvSpPr txBox="1"/>
            <p:nvPr/>
          </p:nvSpPr>
          <p:spPr>
            <a:xfrm>
              <a:off x="4053432" y="4712031"/>
              <a:ext cx="16876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i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Units (Width)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9F47EA4-5EED-4CED-855A-9DD49040D051}"/>
                </a:ext>
              </a:extLst>
            </p:cNvPr>
            <p:cNvSpPr/>
            <p:nvPr/>
          </p:nvSpPr>
          <p:spPr>
            <a:xfrm>
              <a:off x="2648079" y="2632735"/>
              <a:ext cx="902126" cy="95410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F6D1B96-A9F3-4433-9ECF-3E5250A542BF}"/>
                    </a:ext>
                  </a:extLst>
                </p:cNvPr>
                <p:cNvSpPr txBox="1"/>
                <p:nvPr/>
              </p:nvSpPr>
              <p:spPr>
                <a:xfrm>
                  <a:off x="1494338" y="3785658"/>
                  <a:ext cx="1736747" cy="3742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Input</a:t>
                  </a:r>
                  <a:r>
                    <a:rPr lang="en-I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: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IN" b="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0" dirty="0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IN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a14:m>
                  <a:r>
                    <a:rPr lang="en-IN" sz="1200" b="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IN" sz="12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;</a:t>
                  </a:r>
                  <a:r>
                    <a:rPr lang="en-IN" sz="1200" b="0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IN" sz="1400" b="1" i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(d=2)</a:t>
                  </a:r>
                  <a:endParaRPr lang="en-IN" b="1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F6D1B96-A9F3-4433-9ECF-3E5250A542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4338" y="3785658"/>
                  <a:ext cx="1736747" cy="374270"/>
                </a:xfrm>
                <a:prstGeom prst="rect">
                  <a:avLst/>
                </a:prstGeom>
                <a:blipFill>
                  <a:blip r:embed="rId3"/>
                  <a:stretch>
                    <a:fillRect l="-3158" t="-8197" b="-2623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67F42C9-4CB7-4C18-B603-E1C41FF918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4087" y="3338505"/>
              <a:ext cx="783992" cy="51080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76BAFF7-CAA6-4F56-904B-039F88E5D9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43921" y="2632735"/>
              <a:ext cx="250593" cy="31912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8AD3DE9-83EC-4E40-A6AF-135864F1D715}"/>
                    </a:ext>
                  </a:extLst>
                </p:cNvPr>
                <p:cNvSpPr txBox="1"/>
                <p:nvPr/>
              </p:nvSpPr>
              <p:spPr>
                <a:xfrm>
                  <a:off x="9622679" y="2289069"/>
                  <a:ext cx="17367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Out</a:t>
                  </a:r>
                  <a:r>
                    <a:rPr lang="en-IN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put: </a:t>
                  </a:r>
                  <a14:m>
                    <m:oMath xmlns:m="http://schemas.openxmlformats.org/officeDocument/2006/math">
                      <m:r>
                        <a:rPr lang="en-IN" dirty="0">
                          <a:latin typeface="Cambria Math" panose="02040503050406030204" pitchFamily="18" charset="0"/>
                        </a:rPr>
                        <m:t>ℝ</m:t>
                      </m:r>
                    </m:oMath>
                  </a14:m>
                  <a:endParaRPr lang="en-IN" b="1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8AD3DE9-83EC-4E40-A6AF-135864F1D7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2679" y="2289069"/>
                  <a:ext cx="1736747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807" t="-8197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D0A2B38-B620-49B6-A041-EAC034C12B94}"/>
                </a:ext>
              </a:extLst>
            </p:cNvPr>
            <p:cNvCxnSpPr>
              <a:cxnSpLocks/>
              <a:stCxn id="40" idx="1"/>
            </p:cNvCxnSpPr>
            <p:nvPr/>
          </p:nvCxnSpPr>
          <p:spPr>
            <a:xfrm flipH="1">
              <a:off x="5649542" y="1289124"/>
              <a:ext cx="687076" cy="268656"/>
            </a:xfrm>
            <a:prstGeom prst="straightConnector1">
              <a:avLst/>
            </a:prstGeom>
            <a:ln w="190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5740072-5F84-4AE4-AC88-04C2D73ABA3C}"/>
                    </a:ext>
                  </a:extLst>
                </p:cNvPr>
                <p:cNvSpPr txBox="1"/>
                <p:nvPr/>
              </p:nvSpPr>
              <p:spPr>
                <a:xfrm>
                  <a:off x="6336618" y="1104458"/>
                  <a:ext cx="26171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IN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𝝈</m:t>
                      </m:r>
                      <m:r>
                        <a:rPr lang="en-IN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a14:m>
                  <a:r>
                    <a:rPr lang="en-IN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(Non-linear activation)</a:t>
                  </a: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5740072-5F84-4AE4-AC88-04C2D73ABA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6618" y="1104458"/>
                  <a:ext cx="2617139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4CF4702-25F7-4AFF-99DC-402138C6BA56}"/>
                  </a:ext>
                </a:extLst>
              </p:cNvPr>
              <p:cNvSpPr txBox="1"/>
              <p:nvPr/>
            </p:nvSpPr>
            <p:spPr>
              <a:xfrm>
                <a:off x="67506" y="5545827"/>
                <a:ext cx="12046759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 By training parameters, </a:t>
                </a:r>
                <a14:m>
                  <m:oMath xmlns:m="http://schemas.openxmlformats.org/officeDocument/2006/math">
                    <m:r>
                      <a:rPr lang="en-IN" b="1" i="0" smtClean="0">
                        <a:latin typeface="Cambria Math" panose="02040503050406030204" pitchFamily="18" charset="0"/>
                      </a:rPr>
                      <m:t>𝚽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I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IN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network learns a 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mapping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dirty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i="1" dirty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dirty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such that the learnt output approximates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4CF4702-25F7-4AFF-99DC-402138C6B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6" y="5545827"/>
                <a:ext cx="12046759" cy="374270"/>
              </a:xfrm>
              <a:prstGeom prst="rect">
                <a:avLst/>
              </a:prstGeom>
              <a:blipFill>
                <a:blip r:embed="rId6"/>
                <a:stretch>
                  <a:fillRect l="-405" t="-8197" r="-354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Slide Number Placeholder 12">
            <a:extLst>
              <a:ext uri="{FF2B5EF4-FFF2-40B4-BE49-F238E27FC236}">
                <a16:creationId xmlns:a16="http://schemas.microsoft.com/office/drawing/2014/main" id="{E3909E3A-40AE-40ED-A034-632216DCF4D5}"/>
              </a:ext>
            </a:extLst>
          </p:cNvPr>
          <p:cNvSpPr txBox="1">
            <a:spLocks/>
          </p:cNvSpPr>
          <p:nvPr/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2FDA32-86B6-4082-B85B-12AAF3FD5EBF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0C1C401-B780-46ED-A238-48C3D5B3CB6F}"/>
              </a:ext>
            </a:extLst>
          </p:cNvPr>
          <p:cNvSpPr txBox="1"/>
          <p:nvPr/>
        </p:nvSpPr>
        <p:spPr>
          <a:xfrm>
            <a:off x="122738" y="703216"/>
            <a:ext cx="61645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Architecture and Formulation</a:t>
            </a:r>
          </a:p>
        </p:txBody>
      </p:sp>
    </p:spTree>
    <p:extLst>
      <p:ext uri="{BB962C8B-B14F-4D97-AF65-F5344CB8AC3E}">
        <p14:creationId xmlns:p14="http://schemas.microsoft.com/office/powerpoint/2010/main" val="4222723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AA41DD-1601-4D3B-B6EF-FF9DCE04151C}"/>
              </a:ext>
            </a:extLst>
          </p:cNvPr>
          <p:cNvSpPr txBox="1"/>
          <p:nvPr/>
        </p:nvSpPr>
        <p:spPr>
          <a:xfrm>
            <a:off x="122738" y="282299"/>
            <a:ext cx="44615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</a:t>
            </a:r>
          </a:p>
        </p:txBody>
      </p:sp>
      <p:pic>
        <p:nvPicPr>
          <p:cNvPr id="3074" name="Picture 2" descr="Quantum Physics-Informed Neural Networks">
            <a:extLst>
              <a:ext uri="{FF2B5EF4-FFF2-40B4-BE49-F238E27FC236}">
                <a16:creationId xmlns:a16="http://schemas.microsoft.com/office/drawing/2014/main" id="{4F85D5F7-BDB0-4FAE-99D4-0A862264D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778" y="1425240"/>
            <a:ext cx="7762443" cy="4547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Slide Number Placeholder 12">
            <a:extLst>
              <a:ext uri="{FF2B5EF4-FFF2-40B4-BE49-F238E27FC236}">
                <a16:creationId xmlns:a16="http://schemas.microsoft.com/office/drawing/2014/main" id="{7542F0C5-F85A-4C6B-862F-757AA469D1F0}"/>
              </a:ext>
            </a:extLst>
          </p:cNvPr>
          <p:cNvSpPr txBox="1">
            <a:spLocks/>
          </p:cNvSpPr>
          <p:nvPr/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2FDA32-86B6-4082-B85B-12AAF3FD5EBF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1E0824-98F1-49FF-A0F4-692EC4C1D294}"/>
              </a:ext>
            </a:extLst>
          </p:cNvPr>
          <p:cNvSpPr txBox="1"/>
          <p:nvPr/>
        </p:nvSpPr>
        <p:spPr>
          <a:xfrm>
            <a:off x="122738" y="703364"/>
            <a:ext cx="61645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Physics-Informed approach</a:t>
            </a:r>
          </a:p>
        </p:txBody>
      </p:sp>
    </p:spTree>
    <p:extLst>
      <p:ext uri="{BB962C8B-B14F-4D97-AF65-F5344CB8AC3E}">
        <p14:creationId xmlns:p14="http://schemas.microsoft.com/office/powerpoint/2010/main" val="2079493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AA41DD-1601-4D3B-B6EF-FF9DCE04151C}"/>
              </a:ext>
            </a:extLst>
          </p:cNvPr>
          <p:cNvSpPr txBox="1"/>
          <p:nvPr/>
        </p:nvSpPr>
        <p:spPr>
          <a:xfrm>
            <a:off x="122738" y="282299"/>
            <a:ext cx="4676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</a:t>
            </a:r>
          </a:p>
        </p:txBody>
      </p:sp>
      <p:pic>
        <p:nvPicPr>
          <p:cNvPr id="3074" name="Picture 2" descr="Quantum Physics-Informed Neural Networks">
            <a:extLst>
              <a:ext uri="{FF2B5EF4-FFF2-40B4-BE49-F238E27FC236}">
                <a16:creationId xmlns:a16="http://schemas.microsoft.com/office/drawing/2014/main" id="{4F85D5F7-BDB0-4FAE-99D4-0A862264D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90" y="1683049"/>
            <a:ext cx="5709075" cy="3344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BC9FD4-D0A7-4DA8-8C99-B4FA80272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393" y="378025"/>
            <a:ext cx="4338798" cy="17167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38B0BB-F8EE-4269-8A72-C6BBB2344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0938" y="2557880"/>
            <a:ext cx="4487136" cy="15949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FD29E0-3E0F-4361-B4E9-64FA2537EC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8136" y="4657916"/>
            <a:ext cx="4644118" cy="14114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E426DC-5010-4EC2-A7D0-2450E6A0FB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90" y="5291644"/>
            <a:ext cx="4872718" cy="604922"/>
          </a:xfrm>
          <a:prstGeom prst="rect">
            <a:avLst/>
          </a:prstGeom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EF8C0E11-6AB6-4D9B-BEBF-BC3029DC52AD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65471" y="1807488"/>
            <a:ext cx="1274626" cy="792379"/>
          </a:xfrm>
          <a:prstGeom prst="bentConnector3">
            <a:avLst>
              <a:gd name="adj1" fmla="val 32667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D0DEE39-54C2-4988-88B6-D7742311AAF5}"/>
              </a:ext>
            </a:extLst>
          </p:cNvPr>
          <p:cNvCxnSpPr>
            <a:cxnSpLocks/>
          </p:cNvCxnSpPr>
          <p:nvPr/>
        </p:nvCxnSpPr>
        <p:spPr>
          <a:xfrm rot="16200000" flipH="1">
            <a:off x="8724231" y="1278943"/>
            <a:ext cx="1545286" cy="1012588"/>
          </a:xfrm>
          <a:prstGeom prst="bentConnector3">
            <a:avLst>
              <a:gd name="adj1" fmla="val -83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527F144-B2EB-450E-8BCD-109AA0B92C90}"/>
              </a:ext>
            </a:extLst>
          </p:cNvPr>
          <p:cNvCxnSpPr>
            <a:cxnSpLocks/>
          </p:cNvCxnSpPr>
          <p:nvPr/>
        </p:nvCxnSpPr>
        <p:spPr>
          <a:xfrm rot="10800000">
            <a:off x="3988994" y="4036601"/>
            <a:ext cx="2399533" cy="748703"/>
          </a:xfrm>
          <a:prstGeom prst="bentConnector3">
            <a:avLst>
              <a:gd name="adj1" fmla="val 23657"/>
            </a:avLst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9B088961-6DD5-43C6-8906-AD3EA0AC66B4}"/>
              </a:ext>
            </a:extLst>
          </p:cNvPr>
          <p:cNvCxnSpPr>
            <a:cxnSpLocks/>
          </p:cNvCxnSpPr>
          <p:nvPr/>
        </p:nvCxnSpPr>
        <p:spPr>
          <a:xfrm flipV="1">
            <a:off x="1276478" y="4956267"/>
            <a:ext cx="2700242" cy="891386"/>
          </a:xfrm>
          <a:prstGeom prst="bentConnector3">
            <a:avLst>
              <a:gd name="adj1" fmla="val 100000"/>
            </a:avLst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lide Number Placeholder 12">
            <a:extLst>
              <a:ext uri="{FF2B5EF4-FFF2-40B4-BE49-F238E27FC236}">
                <a16:creationId xmlns:a16="http://schemas.microsoft.com/office/drawing/2014/main" id="{250829C5-0DBA-4BC1-9B1C-63DB96C6558D}"/>
              </a:ext>
            </a:extLst>
          </p:cNvPr>
          <p:cNvSpPr txBox="1">
            <a:spLocks/>
          </p:cNvSpPr>
          <p:nvPr/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2FDA32-86B6-4082-B85B-12AAF3FD5EBF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C1F3051-507E-4D22-9C2C-D324CCAE932A}"/>
              </a:ext>
            </a:extLst>
          </p:cNvPr>
          <p:cNvSpPr txBox="1"/>
          <p:nvPr/>
        </p:nvSpPr>
        <p:spPr>
          <a:xfrm>
            <a:off x="174903" y="696310"/>
            <a:ext cx="61645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Learning the Kuramoto Model</a:t>
            </a:r>
          </a:p>
        </p:txBody>
      </p:sp>
    </p:spTree>
    <p:extLst>
      <p:ext uri="{BB962C8B-B14F-4D97-AF65-F5344CB8AC3E}">
        <p14:creationId xmlns:p14="http://schemas.microsoft.com/office/powerpoint/2010/main" val="3447727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C8EA39-7861-4773-AAA5-54C732E25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82" y="1356161"/>
            <a:ext cx="5591837" cy="44218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99E305-DCBD-41D7-BC86-478F1D3FA4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39" t="6606" r="8842" b="2583"/>
          <a:stretch/>
        </p:blipFill>
        <p:spPr>
          <a:xfrm>
            <a:off x="6096000" y="980531"/>
            <a:ext cx="5691587" cy="4807150"/>
          </a:xfrm>
          <a:prstGeom prst="rect">
            <a:avLst/>
          </a:prstGeom>
        </p:spPr>
      </p:pic>
      <p:sp>
        <p:nvSpPr>
          <p:cNvPr id="16" name="Slide Number Placeholder 12">
            <a:extLst>
              <a:ext uri="{FF2B5EF4-FFF2-40B4-BE49-F238E27FC236}">
                <a16:creationId xmlns:a16="http://schemas.microsoft.com/office/drawing/2014/main" id="{273D3C17-F6B7-455F-B0EA-C04E28BEAEC4}"/>
              </a:ext>
            </a:extLst>
          </p:cNvPr>
          <p:cNvSpPr txBox="1">
            <a:spLocks/>
          </p:cNvSpPr>
          <p:nvPr/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2FDA32-86B6-4082-B85B-12AAF3FD5EBF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437B18-782C-43B1-8B72-9F308FA69FA6}"/>
              </a:ext>
            </a:extLst>
          </p:cNvPr>
          <p:cNvSpPr txBox="1"/>
          <p:nvPr/>
        </p:nvSpPr>
        <p:spPr>
          <a:xfrm>
            <a:off x="122738" y="282299"/>
            <a:ext cx="4676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B17421-F2E0-4070-AB3E-AE3C1393674D}"/>
              </a:ext>
            </a:extLst>
          </p:cNvPr>
          <p:cNvSpPr txBox="1"/>
          <p:nvPr/>
        </p:nvSpPr>
        <p:spPr>
          <a:xfrm>
            <a:off x="174903" y="696310"/>
            <a:ext cx="61645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Learning the Kuramoto Model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3AB23F-87A0-49FD-90DD-3401C5277BE4}"/>
              </a:ext>
            </a:extLst>
          </p:cNvPr>
          <p:cNvSpPr txBox="1"/>
          <p:nvPr/>
        </p:nvSpPr>
        <p:spPr>
          <a:xfrm>
            <a:off x="122738" y="5750469"/>
            <a:ext cx="947704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Dataset: </a:t>
            </a: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purely synthetic, approximating different order of smoothnesses occurring in nature</a:t>
            </a:r>
          </a:p>
          <a:p>
            <a:pPr algn="just"/>
            <a:endParaRPr lang="en-GB" sz="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Optimiser: Adam Optimiser (learning rate = </a:t>
            </a:r>
            <a:r>
              <a:rPr lang="en-GB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1 X 10</a:t>
            </a:r>
            <a:r>
              <a:rPr lang="en-GB" sz="1200" b="1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-3</a:t>
            </a: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IN" sz="1200" b="1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305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AA41DD-1601-4D3B-B6EF-FF9DCE04151C}"/>
              </a:ext>
            </a:extLst>
          </p:cNvPr>
          <p:cNvSpPr txBox="1"/>
          <p:nvPr/>
        </p:nvSpPr>
        <p:spPr>
          <a:xfrm>
            <a:off x="122738" y="282299"/>
            <a:ext cx="4676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800" i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35FBBC-2958-4493-989B-B23A3C9BD780}"/>
              </a:ext>
            </a:extLst>
          </p:cNvPr>
          <p:cNvSpPr txBox="1"/>
          <p:nvPr/>
        </p:nvSpPr>
        <p:spPr>
          <a:xfrm>
            <a:off x="165697" y="913865"/>
            <a:ext cx="8468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Evaluation Metrics: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Error against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high-resolution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(512 point)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Volume Solver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8BCBEC-5BB1-4E8C-8514-0CAF411188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458" y="1391544"/>
            <a:ext cx="7937083" cy="4762250"/>
          </a:xfrm>
          <a:prstGeom prst="rect">
            <a:avLst/>
          </a:prstGeom>
        </p:spPr>
      </p:pic>
      <p:sp>
        <p:nvSpPr>
          <p:cNvPr id="15" name="Slide Number Placeholder 12">
            <a:extLst>
              <a:ext uri="{FF2B5EF4-FFF2-40B4-BE49-F238E27FC236}">
                <a16:creationId xmlns:a16="http://schemas.microsoft.com/office/drawing/2014/main" id="{2C13082B-6F85-4E8D-94B6-74FC3BC202D6}"/>
              </a:ext>
            </a:extLst>
          </p:cNvPr>
          <p:cNvSpPr txBox="1">
            <a:spLocks/>
          </p:cNvSpPr>
          <p:nvPr/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2FDA32-86B6-4082-B85B-12AAF3FD5EBF}" type="slidenum">
              <a:rPr lang="en-IN" smtClean="0"/>
              <a:pPr/>
              <a:t>8</a:t>
            </a:fld>
            <a:endParaRPr lang="en-I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B82FC8C-01EE-4E01-8796-6C95502E8F6B}"/>
              </a:ext>
            </a:extLst>
          </p:cNvPr>
          <p:cNvCxnSpPr/>
          <p:nvPr/>
        </p:nvCxnSpPr>
        <p:spPr>
          <a:xfrm>
            <a:off x="3185058" y="2154056"/>
            <a:ext cx="0" cy="2853665"/>
          </a:xfrm>
          <a:prstGeom prst="straightConnector1">
            <a:avLst/>
          </a:prstGeom>
          <a:ln w="28575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85F9941-92F9-49CA-AAE6-A414C5DFB53D}"/>
              </a:ext>
            </a:extLst>
          </p:cNvPr>
          <p:cNvSpPr txBox="1"/>
          <p:nvPr/>
        </p:nvSpPr>
        <p:spPr>
          <a:xfrm>
            <a:off x="3185058" y="3167390"/>
            <a:ext cx="10432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~10% lower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AC7BAEB-8E0D-44B1-A3D2-06A0A2A3DA6D}"/>
              </a:ext>
            </a:extLst>
          </p:cNvPr>
          <p:cNvCxnSpPr/>
          <p:nvPr/>
        </p:nvCxnSpPr>
        <p:spPr>
          <a:xfrm>
            <a:off x="4240608" y="4725425"/>
            <a:ext cx="1325572" cy="0"/>
          </a:xfrm>
          <a:prstGeom prst="straightConnector1">
            <a:avLst/>
          </a:prstGeom>
          <a:ln w="2857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75CCD5B-103E-464A-B418-EF5EFB647367}"/>
              </a:ext>
            </a:extLst>
          </p:cNvPr>
          <p:cNvSpPr txBox="1"/>
          <p:nvPr/>
        </p:nvSpPr>
        <p:spPr>
          <a:xfrm>
            <a:off x="4351071" y="4417648"/>
            <a:ext cx="1215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~13% faster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79BE327-9D8A-41EA-849A-1D8866B1C1BE}"/>
              </a:ext>
            </a:extLst>
          </p:cNvPr>
          <p:cNvSpPr/>
          <p:nvPr/>
        </p:nvSpPr>
        <p:spPr>
          <a:xfrm>
            <a:off x="7922754" y="5142733"/>
            <a:ext cx="2141787" cy="10110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452D6B-079A-47B1-A4DD-6775DE2DF62B}"/>
              </a:ext>
            </a:extLst>
          </p:cNvPr>
          <p:cNvSpPr txBox="1"/>
          <p:nvPr/>
        </p:nvSpPr>
        <p:spPr>
          <a:xfrm>
            <a:off x="9383349" y="4143858"/>
            <a:ext cx="27431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Caution must be exercised with wider networks to prevent the networks from memorising solutions on the known domain</a:t>
            </a:r>
          </a:p>
        </p:txBody>
      </p:sp>
    </p:spTree>
    <p:extLst>
      <p:ext uri="{BB962C8B-B14F-4D97-AF65-F5344CB8AC3E}">
        <p14:creationId xmlns:p14="http://schemas.microsoft.com/office/powerpoint/2010/main" val="3004771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AA41DD-1601-4D3B-B6EF-FF9DCE04151C}"/>
              </a:ext>
            </a:extLst>
          </p:cNvPr>
          <p:cNvSpPr txBox="1"/>
          <p:nvPr/>
        </p:nvSpPr>
        <p:spPr>
          <a:xfrm>
            <a:off x="122738" y="282299"/>
            <a:ext cx="4676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800" i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35FBBC-2958-4493-989B-B23A3C9BD780}"/>
              </a:ext>
            </a:extLst>
          </p:cNvPr>
          <p:cNvSpPr txBox="1"/>
          <p:nvPr/>
        </p:nvSpPr>
        <p:spPr>
          <a:xfrm>
            <a:off x="194332" y="3102448"/>
            <a:ext cx="217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Activation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C38413-44FB-4677-9639-0D7A1331CA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902" y="685794"/>
            <a:ext cx="7315215" cy="5486411"/>
          </a:xfrm>
          <a:prstGeom prst="rect">
            <a:avLst/>
          </a:prstGeom>
        </p:spPr>
      </p:pic>
      <p:sp>
        <p:nvSpPr>
          <p:cNvPr id="14" name="Slide Number Placeholder 12">
            <a:extLst>
              <a:ext uri="{FF2B5EF4-FFF2-40B4-BE49-F238E27FC236}">
                <a16:creationId xmlns:a16="http://schemas.microsoft.com/office/drawing/2014/main" id="{CC5E5A14-352E-4A0C-A715-BCEDE4449692}"/>
              </a:ext>
            </a:extLst>
          </p:cNvPr>
          <p:cNvSpPr txBox="1">
            <a:spLocks/>
          </p:cNvSpPr>
          <p:nvPr/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2FDA32-86B6-4082-B85B-12AAF3FD5EBF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6478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AA41DD-1601-4D3B-B6EF-FF9DCE04151C}"/>
              </a:ext>
            </a:extLst>
          </p:cNvPr>
          <p:cNvSpPr txBox="1"/>
          <p:nvPr/>
        </p:nvSpPr>
        <p:spPr>
          <a:xfrm>
            <a:off x="122738" y="282299"/>
            <a:ext cx="4676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800" i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35FBBC-2958-4493-989B-B23A3C9BD780}"/>
              </a:ext>
            </a:extLst>
          </p:cNvPr>
          <p:cNvSpPr txBox="1"/>
          <p:nvPr/>
        </p:nvSpPr>
        <p:spPr>
          <a:xfrm>
            <a:off x="101738" y="4072798"/>
            <a:ext cx="21724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 in architectures with excessive depth and width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2807DD5-0DA5-4D3D-BC46-21099F5FDCB0}"/>
              </a:ext>
            </a:extLst>
          </p:cNvPr>
          <p:cNvGrpSpPr/>
          <p:nvPr/>
        </p:nvGrpSpPr>
        <p:grpSpPr>
          <a:xfrm>
            <a:off x="2658338" y="329621"/>
            <a:ext cx="6875323" cy="5735422"/>
            <a:chOff x="2731104" y="389847"/>
            <a:chExt cx="6875323" cy="573542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DDD96BF-2027-42A3-9B25-2D896D0642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59" t="6812" r="9145" b="3255"/>
            <a:stretch/>
          </p:blipFill>
          <p:spPr>
            <a:xfrm>
              <a:off x="2731104" y="3309379"/>
              <a:ext cx="6854800" cy="281589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6F5A350-0FA3-4B89-B5F0-E1B6830DDF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759" t="7215" r="9145" b="3121"/>
            <a:stretch/>
          </p:blipFill>
          <p:spPr>
            <a:xfrm>
              <a:off x="2731104" y="389847"/>
              <a:ext cx="6875323" cy="281589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2EB9126-E2D2-4F24-9C24-C85AF2C005A5}"/>
              </a:ext>
            </a:extLst>
          </p:cNvPr>
          <p:cNvSpPr txBox="1"/>
          <p:nvPr/>
        </p:nvSpPr>
        <p:spPr>
          <a:xfrm>
            <a:off x="10070673" y="1552900"/>
            <a:ext cx="803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5%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9CC43D-E46B-4F08-ACE4-372101E95927}"/>
              </a:ext>
            </a:extLst>
          </p:cNvPr>
          <p:cNvSpPr txBox="1"/>
          <p:nvPr/>
        </p:nvSpPr>
        <p:spPr>
          <a:xfrm>
            <a:off x="10070673" y="4472432"/>
            <a:ext cx="8039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 Black" panose="020B0A04020102020204" pitchFamily="34" charset="0"/>
              </a:rPr>
              <a:t>10%</a:t>
            </a:r>
          </a:p>
        </p:txBody>
      </p:sp>
      <p:sp>
        <p:nvSpPr>
          <p:cNvPr id="14" name="Slide Number Placeholder 12">
            <a:extLst>
              <a:ext uri="{FF2B5EF4-FFF2-40B4-BE49-F238E27FC236}">
                <a16:creationId xmlns:a16="http://schemas.microsoft.com/office/drawing/2014/main" id="{0327B29A-FB48-410B-8321-04150CFD7A8D}"/>
              </a:ext>
            </a:extLst>
          </p:cNvPr>
          <p:cNvSpPr txBox="1">
            <a:spLocks/>
          </p:cNvSpPr>
          <p:nvPr/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2FDA32-86B6-4082-B85B-12AAF3FD5EBF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4D779E5-F7AF-4C86-8504-01845C0F0817}"/>
              </a:ext>
            </a:extLst>
          </p:cNvPr>
          <p:cNvSpPr/>
          <p:nvPr/>
        </p:nvSpPr>
        <p:spPr>
          <a:xfrm>
            <a:off x="7192855" y="249840"/>
            <a:ext cx="570339" cy="2963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0C1B16E-77A4-4F88-B06B-C2C741F752EE}"/>
              </a:ext>
            </a:extLst>
          </p:cNvPr>
          <p:cNvSpPr/>
          <p:nvPr/>
        </p:nvSpPr>
        <p:spPr>
          <a:xfrm>
            <a:off x="7137230" y="3173677"/>
            <a:ext cx="564596" cy="2963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1B27AA3-AF7D-4AA0-BB99-58AE5013086C}"/>
              </a:ext>
            </a:extLst>
          </p:cNvPr>
          <p:cNvCxnSpPr>
            <a:cxnSpLocks/>
            <a:stCxn id="4" idx="3"/>
          </p:cNvCxnSpPr>
          <p:nvPr/>
        </p:nvCxnSpPr>
        <p:spPr>
          <a:xfrm flipH="1">
            <a:off x="2100805" y="502787"/>
            <a:ext cx="5175574" cy="3704397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63B8C68-20FC-4F85-8C51-EF400CCA85DF}"/>
              </a:ext>
            </a:extLst>
          </p:cNvPr>
          <p:cNvCxnSpPr>
            <a:cxnSpLocks/>
            <a:stCxn id="15" idx="3"/>
          </p:cNvCxnSpPr>
          <p:nvPr/>
        </p:nvCxnSpPr>
        <p:spPr>
          <a:xfrm flipH="1">
            <a:off x="2100805" y="3426624"/>
            <a:ext cx="5119108" cy="892137"/>
          </a:xfrm>
          <a:prstGeom prst="straightConnector1">
            <a:avLst/>
          </a:prstGeom>
          <a:ln w="95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96EF645-DE7F-4553-B174-2E6170DF861B}"/>
              </a:ext>
            </a:extLst>
          </p:cNvPr>
          <p:cNvSpPr txBox="1"/>
          <p:nvPr/>
        </p:nvSpPr>
        <p:spPr>
          <a:xfrm>
            <a:off x="275138" y="3026567"/>
            <a:ext cx="2172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Non Physical Artefacts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60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AA41DD-1601-4D3B-B6EF-FF9DCE04151C}"/>
              </a:ext>
            </a:extLst>
          </p:cNvPr>
          <p:cNvSpPr txBox="1"/>
          <p:nvPr/>
        </p:nvSpPr>
        <p:spPr>
          <a:xfrm>
            <a:off x="122738" y="282299"/>
            <a:ext cx="4676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800" i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35FBBC-2958-4493-989B-B23A3C9BD780}"/>
              </a:ext>
            </a:extLst>
          </p:cNvPr>
          <p:cNvSpPr txBox="1"/>
          <p:nvPr/>
        </p:nvSpPr>
        <p:spPr>
          <a:xfrm>
            <a:off x="165697" y="913865"/>
            <a:ext cx="8468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latin typeface="Arial" panose="020B0604020202020204" pitchFamily="34" charset="0"/>
                <a:cs typeface="Arial" panose="020B0604020202020204" pitchFamily="34" charset="0"/>
              </a:rPr>
              <a:t>Impact of Depth and Width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91A042-11FA-4020-8CB5-578C7D99A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59" y="1283197"/>
            <a:ext cx="10744481" cy="4610221"/>
          </a:xfrm>
          <a:prstGeom prst="rect">
            <a:avLst/>
          </a:prstGeom>
        </p:spPr>
      </p:pic>
      <p:sp>
        <p:nvSpPr>
          <p:cNvPr id="8" name="Slide Number Placeholder 12">
            <a:extLst>
              <a:ext uri="{FF2B5EF4-FFF2-40B4-BE49-F238E27FC236}">
                <a16:creationId xmlns:a16="http://schemas.microsoft.com/office/drawing/2014/main" id="{95A67130-5F8C-4582-A778-4F8D1AD6CE7A}"/>
              </a:ext>
            </a:extLst>
          </p:cNvPr>
          <p:cNvSpPr txBox="1">
            <a:spLocks/>
          </p:cNvSpPr>
          <p:nvPr/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2FDA32-86B6-4082-B85B-12AAF3FD5EBF}" type="slidenum">
              <a:rPr lang="en-IN" smtClean="0"/>
              <a:pPr/>
              <a:t>11</a:t>
            </a:fld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EE0ED2D-0EAD-4D40-B39A-B0CA2D40ACFA}"/>
              </a:ext>
            </a:extLst>
          </p:cNvPr>
          <p:cNvCxnSpPr/>
          <p:nvPr/>
        </p:nvCxnSpPr>
        <p:spPr>
          <a:xfrm>
            <a:off x="4050362" y="1902444"/>
            <a:ext cx="703290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05AE0F7-C7F2-4590-922E-F9E0F4469DA3}"/>
              </a:ext>
            </a:extLst>
          </p:cNvPr>
          <p:cNvSpPr txBox="1"/>
          <p:nvPr/>
        </p:nvSpPr>
        <p:spPr>
          <a:xfrm>
            <a:off x="3963419" y="1579874"/>
            <a:ext cx="20630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highlight>
                  <a:srgbClr val="FF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Diminishing returns</a:t>
            </a:r>
            <a:endParaRPr lang="en-IN" dirty="0">
              <a:solidFill>
                <a:schemeClr val="bg1"/>
              </a:solidFill>
              <a:highlight>
                <a:srgbClr val="FF0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523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35FBBC-2958-4493-989B-B23A3C9BD780}"/>
              </a:ext>
            </a:extLst>
          </p:cNvPr>
          <p:cNvSpPr txBox="1"/>
          <p:nvPr/>
        </p:nvSpPr>
        <p:spPr>
          <a:xfrm>
            <a:off x="165695" y="103793"/>
            <a:ext cx="57482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Limitations and Future Directions</a:t>
            </a:r>
            <a:endParaRPr lang="en-IN" sz="2200" dirty="0">
              <a:solidFill>
                <a:srgbClr val="FF0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EBEBEE7-A73A-4F80-AB5F-F6B4B32CE608}"/>
              </a:ext>
            </a:extLst>
          </p:cNvPr>
          <p:cNvGrpSpPr/>
          <p:nvPr/>
        </p:nvGrpSpPr>
        <p:grpSpPr>
          <a:xfrm>
            <a:off x="731301" y="652455"/>
            <a:ext cx="4789168" cy="5449666"/>
            <a:chOff x="731301" y="589117"/>
            <a:chExt cx="4789168" cy="544966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11D55B1-453F-4A8A-A829-75962C42C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1302" y="1000317"/>
              <a:ext cx="4789167" cy="503846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364D8A-B967-4097-981F-43960268B795}"/>
                </a:ext>
              </a:extLst>
            </p:cNvPr>
            <p:cNvSpPr txBox="1"/>
            <p:nvPr/>
          </p:nvSpPr>
          <p:spPr>
            <a:xfrm>
              <a:off x="731301" y="589117"/>
              <a:ext cx="47891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Closest solution profiles for Initial data with </a:t>
              </a:r>
              <a:r>
                <a:rPr lang="en-IN" sz="14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singular masses</a:t>
              </a:r>
              <a:endPara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AD9C09D-22EB-49C5-83DA-568DA6B5B5AE}"/>
              </a:ext>
            </a:extLst>
          </p:cNvPr>
          <p:cNvGrpSpPr/>
          <p:nvPr/>
        </p:nvGrpSpPr>
        <p:grpSpPr>
          <a:xfrm>
            <a:off x="6671531" y="646917"/>
            <a:ext cx="4789168" cy="5410277"/>
            <a:chOff x="6671533" y="628506"/>
            <a:chExt cx="4789168" cy="54102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1C92163-6257-4914-B5C6-3D2C00FF4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71533" y="1000317"/>
              <a:ext cx="4746445" cy="5038466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248B65-B3EA-4BFF-8400-B018E3582D9B}"/>
                </a:ext>
              </a:extLst>
            </p:cNvPr>
            <p:cNvSpPr txBox="1"/>
            <p:nvPr/>
          </p:nvSpPr>
          <p:spPr>
            <a:xfrm>
              <a:off x="6671534" y="628506"/>
              <a:ext cx="47891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Closest solution profiles for Initial data with </a:t>
              </a:r>
              <a:r>
                <a:rPr lang="en-IN" sz="14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discontinuities</a:t>
              </a:r>
              <a:endPara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Slide Number Placeholder 12">
            <a:extLst>
              <a:ext uri="{FF2B5EF4-FFF2-40B4-BE49-F238E27FC236}">
                <a16:creationId xmlns:a16="http://schemas.microsoft.com/office/drawing/2014/main" id="{7CCB9CA8-D15D-46FD-82B9-5149A92DAFAF}"/>
              </a:ext>
            </a:extLst>
          </p:cNvPr>
          <p:cNvSpPr txBox="1">
            <a:spLocks/>
          </p:cNvSpPr>
          <p:nvPr/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2FDA32-86B6-4082-B85B-12AAF3FD5EBF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2375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35FBBC-2958-4493-989B-B23A3C9BD780}"/>
              </a:ext>
            </a:extLst>
          </p:cNvPr>
          <p:cNvSpPr txBox="1"/>
          <p:nvPr/>
        </p:nvSpPr>
        <p:spPr>
          <a:xfrm>
            <a:off x="165695" y="103793"/>
            <a:ext cx="57482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rgbClr val="FF0000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Limitations and Future Directions</a:t>
            </a:r>
            <a:endParaRPr lang="en-IN" sz="2200" dirty="0">
              <a:solidFill>
                <a:srgbClr val="FF0000"/>
              </a:solidFill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BFFA3BE-0A24-4CE4-80CB-F6B22BA74AD8}"/>
                  </a:ext>
                </a:extLst>
              </p:cNvPr>
              <p:cNvSpPr txBox="1"/>
              <p:nvPr/>
            </p:nvSpPr>
            <p:spPr>
              <a:xfrm>
                <a:off x="214792" y="718019"/>
                <a:ext cx="1161103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Problem:</a:t>
                </a: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Due to smooth activation functions 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I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sin, tanh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the approximated solution, </a:t>
                </a:r>
                <a:r>
                  <a:rPr lang="en-I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u(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I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t)</a:t>
                </a: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lies in the </a:t>
                </a:r>
                <a:r>
                  <a:rPr lang="en-IN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14:m>
                  <m:oMath xmlns:m="http://schemas.openxmlformats.org/officeDocument/2006/math">
                    <m:r>
                      <a:rPr lang="en-IN" b="1" i="1" baseline="30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dirty="0">
                    <a:latin typeface="Arial" panose="020B0604020202020204" pitchFamily="34" charset="0"/>
                    <a:cs typeface="Arial" panose="020B0604020202020204" pitchFamily="34" charset="0"/>
                  </a:rPr>
                  <a:t>class of infinitely-differentiable functions. Thus, failing to approximate solutions with delta spikes (singular masses) and discontinuities.</a:t>
                </a:r>
                <a:endParaRPr lang="en-IN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BFFA3BE-0A24-4CE4-80CB-F6B22BA74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792" y="718019"/>
                <a:ext cx="11611039" cy="954107"/>
              </a:xfrm>
              <a:prstGeom prst="rect">
                <a:avLst/>
              </a:prstGeom>
              <a:blipFill>
                <a:blip r:embed="rId2"/>
                <a:stretch>
                  <a:fillRect l="-525" t="-3846" b="-96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D3A54A5-3A12-4AD6-8497-265C1A1F6A3D}"/>
              </a:ext>
            </a:extLst>
          </p:cNvPr>
          <p:cNvSpPr txBox="1"/>
          <p:nvPr/>
        </p:nvSpPr>
        <p:spPr>
          <a:xfrm>
            <a:off x="214792" y="1855465"/>
            <a:ext cx="1154353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solidFill>
                  <a:srgbClr val="00B05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Remedies:</a:t>
            </a: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or variational loss formulations: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integrate PDE residual against 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test functions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to capture distributional (weak-form) derivatives at jumps.</a:t>
            </a:r>
          </a:p>
          <a:p>
            <a:pPr algn="just"/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decomposition: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train 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separate subnetworks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on subdomains to localise shocks and prevent global smoothing, but this requires prior knowledge of domain/solution structure.</a:t>
            </a:r>
          </a:p>
          <a:p>
            <a:pPr algn="just"/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Enriched input embeddings: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use 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Fourier features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wavelets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to improve network expressivity and capture steep gradients.</a:t>
            </a:r>
          </a:p>
          <a:p>
            <a:pPr algn="just"/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machine learning (parameterised quantum circuits):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quantum effects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i="1" dirty="0">
                <a:latin typeface="Arial" panose="020B0604020202020204" pitchFamily="34" charset="0"/>
                <a:cs typeface="Arial" panose="020B0604020202020204" pitchFamily="34" charset="0"/>
              </a:rPr>
              <a:t>in PQCs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might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model nonlocal correlations, offering new possibilities for handling discontinuities.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5A0F9D-CC46-4C90-A035-F2F6C5D80521}"/>
              </a:ext>
            </a:extLst>
          </p:cNvPr>
          <p:cNvSpPr txBox="1"/>
          <p:nvPr/>
        </p:nvSpPr>
        <p:spPr>
          <a:xfrm>
            <a:off x="181039" y="5165293"/>
            <a:ext cx="116110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 will explore these techniques to</a:t>
            </a:r>
            <a:r>
              <a:rPr lang="en-GB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extend DNNs’ applicability to scientific computing problems featuring discontinuities and singular measures.</a:t>
            </a:r>
            <a:r>
              <a:rPr lang="en-IN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lide Number Placeholder 12">
            <a:extLst>
              <a:ext uri="{FF2B5EF4-FFF2-40B4-BE49-F238E27FC236}">
                <a16:creationId xmlns:a16="http://schemas.microsoft.com/office/drawing/2014/main" id="{7FAFC4F3-0B28-4527-AF49-F25EFD2EEF3F}"/>
              </a:ext>
            </a:extLst>
          </p:cNvPr>
          <p:cNvSpPr txBox="1">
            <a:spLocks/>
          </p:cNvSpPr>
          <p:nvPr/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2FDA32-86B6-4082-B85B-12AAF3FD5EBF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7271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C2FDA32-86B6-4082-B85B-12AAF3FD5EB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603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</TotalTime>
  <Words>557</Words>
  <Application>Microsoft Office PowerPoint</Application>
  <PresentationFormat>Widescreen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Black</vt:lpstr>
      <vt:lpstr>Bahnschrift</vt:lpstr>
      <vt:lpstr>Calibri</vt:lpstr>
      <vt:lpstr>Calibri Light</vt:lpstr>
      <vt:lpstr>Cambria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Anup Upadhyaya</dc:creator>
  <cp:lastModifiedBy>Nishantak Panigrahi</cp:lastModifiedBy>
  <cp:revision>68</cp:revision>
  <dcterms:created xsi:type="dcterms:W3CDTF">2025-09-09T15:41:26Z</dcterms:created>
  <dcterms:modified xsi:type="dcterms:W3CDTF">2025-09-18T07:50:40Z</dcterms:modified>
</cp:coreProperties>
</file>